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B00BB-DE75-7E4B-A4AD-4D0EA9E30BBE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198F0-8666-9F4E-96E5-D47485C12E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720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tnolinguistica.wdfiles.com/local--files/biblio:bueno-1987-dicionario/Bueno_1987_DicTupiGuaraniPortugues_pt2_dicGDias%2BToponimos.pdf" TargetMode="External"/><Relationship Id="rId7" Type="http://schemas.openxmlformats.org/officeDocument/2006/relationships/hyperlink" Target="https://en.wikibooks.org/wiki/Guarani/Orthography_and_pronuncia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uaranime.blogspot.com/2011/12/jepe-1.html" TargetMode="External"/><Relationship Id="rId5" Type="http://schemas.openxmlformats.org/officeDocument/2006/relationships/hyperlink" Target="https://www.omniglot.com/language/numbers/guarani.htm" TargetMode="External"/><Relationship Id="rId4" Type="http://schemas.openxmlformats.org/officeDocument/2006/relationships/hyperlink" Target="https://es.wikibooks.org/wiki/Guaran%C3%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TEORIA DA COMPUTAÇÃO E COMPILADORES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Transpilador Tupi-Guarani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D98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Python 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 fonte esotérica de vocabulário Tupi-Guarani, compilada para Python 3 com o framework Lark (parser LALR).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2926080" cy="0"/>
          </a:xfrm>
          <a:prstGeom prst="line">
            <a:avLst/>
          </a:prstGeom>
          <a:noFill/>
          <a:ln w="31750">
            <a:solidFill>
              <a:srgbClr val="D98E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Tupi Guarani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EC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Santiago  ·  Guilherme Costa  ·  João Manuel Cunha  ·  Bruno Sales Carneiro  ·  Bruno Menezes Sales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transpilador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" cy="1783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41248" y="198424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Linguagem fonte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Tupi — esotérica, com palavras-chave inspiradas no Tupi-Guarani. Todo comando termina com ".".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91440" cy="1783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71336" y="198424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71336" y="2404872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legível e executável, envolto em def main() / if __name__ == '__main__'.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91440" cy="1783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1248" y="408736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parsing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4507992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com parser LALR(1); gramática declarativa em grammar/tupi.lark.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388620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78728" y="3886200"/>
            <a:ext cx="91440" cy="1783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71336" y="408736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71336" y="4507992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 fonte-a-fonte (transpilador): análise completa antes de gerar código.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pipeline de compilação em 4 etapas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4855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71384" y="231343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471384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léxica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sintática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749040"/>
            <a:ext cx="226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lexer_parser.py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Lark LALR → parse tree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9344" y="301752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18256" y="2057400"/>
            <a:ext cx="24855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341000" y="2313432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341000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55416" y="3063240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Construção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AST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7984" y="3749040"/>
            <a:ext cx="226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árvore → dataclasses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48960" y="301752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87872" y="2057400"/>
            <a:ext cx="24855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210616" y="2313432"/>
            <a:ext cx="640080" cy="640080"/>
          </a:xfrm>
          <a:prstGeom prst="ellipse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210616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25032" y="3063240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semântica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97600" y="3749040"/>
            <a:ext cx="226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checker.py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 de símbolos + tipos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18575" y="301752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57487" y="2057400"/>
            <a:ext cx="248556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0080231" y="2313432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080231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294647" y="3063240"/>
            <a:ext cx="2211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Geração 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67215" y="3749040"/>
            <a:ext cx="226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emitter.py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 → string Python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Detalhe-chave:  </a:t>
            </a: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símbolos</a:t>
            </a: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construída na etapa 3 é repassada à etapa 4 — é ela que decide entre </a:t>
            </a: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 / float() / input()</a:t>
            </a: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cada leitura </a:t>
            </a:r>
            <a:r>
              <a:rPr lang="en-US" sz="14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monee</a:t>
            </a:r>
            <a:r>
              <a:rPr lang="en-US" sz="14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Anatomia de um programa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tekoha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declarações de variáveis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E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comandos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tekoha / opa.  delimitam o programa (opa exige ponto final).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declaração e todo comando terminam com  "."  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 { }  NÃO levam ponto final.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antes de usar; tipo fixa as operações válidas.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examples/01_ola_mundo.tg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0" y="2103120"/>
            <a:ext cx="4965192" cy="1371600"/>
          </a:xfrm>
          <a:prstGeom prst="roundRect">
            <a:avLst>
              <a:gd name="adj" fmla="val 4000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39712" y="2231136"/>
            <a:ext cx="46360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6E8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Programa mínimo: imprime uma saudação.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tekoha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("Mba_eichapa ko yvy!").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3657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Python gerado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3977640"/>
            <a:ext cx="4965192" cy="1691640"/>
          </a:xfrm>
          <a:prstGeom prst="roundRect">
            <a:avLst>
              <a:gd name="adj" fmla="val 3243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39712" y="4105656"/>
            <a:ext cx="463600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("Mba_eichapa ko yvy!")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__name__ == '__main__':</a:t>
            </a:r>
            <a:endParaRPr lang="en-US" sz="1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Vocabulário — palavras reservadas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73384" cy="41833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8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 (Tupi-Guarani)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tekoha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início do programa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 onde se vive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fim do programa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acabar, terminar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papy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contagem, número (papapy)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papyvore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papy + vore (parte/fração) → fracionário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palavra, fala (ñe'ẽ)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anetepa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"será verdade?" (añetepa)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anete / japu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/ False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verdade / mentira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ramo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se, quando — condicional (rõ)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yro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else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ỹ (não) + rõ (se) = "se não"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aja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durante, enquanto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rupi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por, através 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japo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do…while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fazer, realizar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monee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input(...)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— mo + ñe'ẽ = "fazer falar"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8E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C5F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print(...)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dizer, falar (he'i)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tipos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984248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2441448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770632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 com sinal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118104"/>
            <a:ext cx="223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824" y="17830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555416" y="1984248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papyvore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55416" y="2441448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float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5416" y="2770632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flutuante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55416" y="3118104"/>
            <a:ext cx="223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0.0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17830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397600" y="1984248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97600" y="2441448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7600" y="2770632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caracteres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7600" y="3118104"/>
            <a:ext cx="223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""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5191" y="17830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239783" y="1984248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anetepa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39783" y="2441448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bool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9783" y="2770632"/>
            <a:ext cx="223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9783" y="3118104"/>
            <a:ext cx="223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False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094415" cy="1874520"/>
          </a:xfrm>
          <a:prstGeom prst="roundRect">
            <a:avLst>
              <a:gd name="adj" fmla="val 3902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Regras de promoção e operação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2960" y="43434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 → papyvore  é implícito;   papyvore → papy  é PROIBIDO.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− * /  exigem operandos numéricos; mistura promove a papyvore.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nee, somente  +  é válido (concatenação).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Relacionais (&lt; &gt; &lt;= &gt;= == !=) produzem anetepa; condições devem ser anetepa.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compilador garante antes de gerar código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020824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9808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94767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Declaração obrigatória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280160" y="2295144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variável usada (em expressão, atribuição, leitura ou escrita) precisa ter sido declarada antes.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79896" y="2020824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7989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10248" y="194767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redeclaração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10248" y="2295144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permitido declarar o mesmo identificador duas vezes (escopo único e plano).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" y="350215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980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Compatibilidade de tipos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80160" y="3776472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atribuição confere o tipo: int cabe em float, mas float não cabe em int.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264408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79896" y="350215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7989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10248" y="342900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Operações válidas por tipo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10248" y="3776472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Aritmética só em números; em texto apenas concatenação com +.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49808" y="49834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49808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91032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Condições booleanas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280160" y="5257800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ramo, aja, rupi e japo exigem condição do tipo anetepa (resultado de relacional).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8728" y="4745736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6479896" y="49834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4798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10248" y="491032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Falha explícita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010248" y="5257800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violação lança SemanticError e interrompe a compilação — nada de Python inválido.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Estruturas de controle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5035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ramo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 &lt; b)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b.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yro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a.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40156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10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&lt; b: … else: 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8728" y="1737360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Enquanto (while)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2066544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43320" y="2194560"/>
            <a:ext cx="5035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aja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&lt;=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soma = soma + i.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= i +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97016" y="340156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10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&lt;= 5: 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(for)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13232" y="4389120"/>
            <a:ext cx="5035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rupi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 =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j &lt;=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 = j +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59612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10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j in range(1, 4): 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8728" y="3931920"/>
            <a:ext cx="536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Faça…enquanto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78728" y="4261104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43320" y="4389120"/>
            <a:ext cx="5035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japo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 = k +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aja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 &lt;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97016" y="5596128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100" dirty="0">
                <a:solidFill>
                  <a:srgbClr val="6B7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 …; if not c: break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Expressões e precedência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gramática é estratificada — expr → term → fator — para impor a precedência de * e / sobre + e −, sem recursão à esquerda.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760720" cy="2743200"/>
          </a:xfrm>
          <a:prstGeom prst="roundRect">
            <a:avLst>
              <a:gd name="adj" fmla="val 2000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96896"/>
            <a:ext cx="543153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 : term (("+"|"-") term)*</a:t>
            </a: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 : fator (("*"|"/") fator)*</a:t>
            </a: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fator : NUMERO_DEC | NUMERO_INT</a:t>
            </a: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ESCAPED_STRING</a:t>
            </a: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</a:t>
            </a:r>
            <a:r>
              <a:rPr lang="en-US" sz="14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"anete"</a:t>
            </a: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4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"japu"</a:t>
            </a: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IDENT</a:t>
            </a:r>
            <a:endParaRPr lang="en-US" sz="1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 </a:t>
            </a:r>
            <a:r>
              <a:rPr lang="en-US" sz="14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"("</a:t>
            </a: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expr </a:t>
            </a:r>
            <a:r>
              <a:rPr lang="en-US" sz="14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2468880"/>
            <a:ext cx="5059375" cy="2743200"/>
          </a:xfrm>
          <a:prstGeom prst="roundRect">
            <a:avLst>
              <a:gd name="adj" fmla="val 2667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122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em lista plana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3108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</a:t>
            </a:r>
            <a:r>
              <a:rPr lang="en-US" sz="13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</a:t>
            </a: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guardam uma lista plana: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[operando, op, operando, op, …]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Checador e emissor percorrem essa lista de 2 em 2.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12280" y="4526280"/>
            <a:ext cx="4846320" cy="457200"/>
          </a:xfrm>
          <a:prstGeom prst="rect">
            <a:avLst/>
          </a:prstGeom>
          <a:solidFill>
            <a:srgbClr val="12241C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 </a:t>
            </a:r>
            <a:r>
              <a:rPr lang="en-US" sz="13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c / (a + b).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Condicional + entrada/saída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Tupi  ·  02_if_else_io.tg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532120" cy="4069080"/>
          </a:xfrm>
          <a:prstGeom prst="roundRect">
            <a:avLst>
              <a:gd name="adj" fmla="val 1348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249424"/>
            <a:ext cx="520293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6E8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Lê dois inteiros e imprime o maior.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tekoha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b, c.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("Digite A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monee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("Digite B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monee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ramo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 &lt; b)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b.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yro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a.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valor:").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(c).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46520" y="17830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gerado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121408"/>
            <a:ext cx="5532120" cy="4069080"/>
          </a:xfrm>
          <a:prstGeom prst="roundRect">
            <a:avLst>
              <a:gd name="adj" fmla="val 1348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11112" y="2249424"/>
            <a:ext cx="520293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a: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b: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c: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("Digite A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("Digite B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&lt; b: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= b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 = a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("Maior valor:")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Fibonacci — leitura e laço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Tupi  ·  06_fibonacci.tg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249424"/>
            <a:ext cx="520293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6E8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 primeiros termos de Fibonacci.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tekoha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n, a, b, temp, i.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("Quantos termos gerar?").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monee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aja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 &lt; n) {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a + b.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b.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temp.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6520" y="17830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gerado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2121408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11112" y="2249424"/>
            <a:ext cx="520293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n: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a: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b: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temp: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i: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("Quantos termos gerar?")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9F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&lt; n: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temp = a + b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= b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 = temp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i +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classes de erro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84778" cy="640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 Léxico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UnexpectedCharacters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caractere não forma nenhum token válido.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3119018" cy="9144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96112" y="3922776"/>
            <a:ext cx="2789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200" dirty="0">
                <a:solidFill>
                  <a:srgbClr val="C7E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lexer falha — '@' não existe no alfabeto.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3458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353458" y="1783080"/>
            <a:ext cx="3484778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36338" y="17830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 Sintático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36338" y="2532888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UnexpectedToken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36338" y="288036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válidos em ordem que viola a gramática.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36338" y="3794760"/>
            <a:ext cx="3119018" cy="9144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00930" y="3922776"/>
            <a:ext cx="2789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36338" y="480060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parser falha — estrutura inesperada.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158277" y="1783080"/>
            <a:ext cx="3484778" cy="640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341157" y="1783080"/>
            <a:ext cx="31190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2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 Semântico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41157" y="2532888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SemanticError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41157" y="288036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bem-formado, mas quebra regra de tipo/escopo.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341157" y="3794760"/>
            <a:ext cx="3119018" cy="914400"/>
          </a:xfrm>
          <a:prstGeom prst="roundRect">
            <a:avLst>
              <a:gd name="adj" fmla="val 6000"/>
            </a:avLst>
          </a:prstGeom>
          <a:solidFill>
            <a:srgbClr val="12241C"/>
          </a:solidFill>
          <a:ln/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505749" y="3922776"/>
            <a:ext cx="27898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8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x.</a:t>
            </a:r>
            <a:endParaRPr lang="en-US" sz="1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r>
              <a:rPr lang="en-US" sz="1200" dirty="0">
                <a:solidFill>
                  <a:srgbClr val="E7B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"olá"</a:t>
            </a:r>
            <a:r>
              <a:rPr lang="en-US" sz="12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41157" y="4800600"/>
            <a:ext cx="3119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checador falha — tipos incompatíveis.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Visualizador web (Streamlit)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57200" cy="457200"/>
          </a:xfrm>
          <a:prstGeom prst="ellipse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lado a lado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1305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Código-fonte, árvore sintática, AST, tabela de símbolos e o Python gerado, em abas.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Executar no navegador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0449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o programa gerado com um campo de entrada para os comandos monee.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offline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593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grafos são desenhados em SVG calculado em Python — sem CDN, com zoom e arraste.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Dicionário + erros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8737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Expander com as palavras reservadas e classificação Léxico/Sintático/Semântico.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03720" y="1783080"/>
            <a:ext cx="4739335" cy="3703320"/>
          </a:xfrm>
          <a:prstGeom prst="roundRect">
            <a:avLst>
              <a:gd name="adj" fmla="val 1975"/>
            </a:avLst>
          </a:prstGeom>
          <a:solidFill>
            <a:srgbClr val="13322B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abrir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242316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duplo-clique em run.bat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F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tupi.cli web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E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Etimologia: palavras escolhidas com critério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91440" cy="1783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ramo  =  if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441448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Subordinador condicional do Guarani ("se/quando"). Substituiu ojepe, que era morfologicamente inválido e significava "embora/ainda que" (concessivo).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91440" cy="1783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71336" y="196596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ramo / yro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71336" y="2441448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coerente: yro = ỹrõ = ỹ (não) + rõ (se) = "se não". A mesma raiz rõ une o if e o else.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91440" cy="1783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1248" y="402336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papyvore = float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4498848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transparente: papy (número) + vore (parte, fração) → "número fracionário".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84048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1F4EF"/>
          </a:solidFill>
          <a:ln w="12700">
            <a:solidFill>
              <a:srgbClr val="DCE4DB"/>
            </a:solidFill>
            <a:prstDash val="solid"/>
          </a:ln>
          <a:effectLst>
            <a:outerShdw blurRad="88900" dist="38100" dir="5400000" algn="bl" rotWithShape="0">
              <a:srgbClr val="0B1A14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78728" y="3840480"/>
            <a:ext cx="91440" cy="1783080"/>
          </a:xfrm>
          <a:prstGeom prst="rect">
            <a:avLst/>
          </a:prstGeom>
          <a:solidFill>
            <a:srgbClr val="D98E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71336" y="402336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monee = input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71336" y="4498848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mo- (causativo) + ñe'ẽ (fala) = "fazer falar" → ler / receber entrada.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dicionário Tupi de Gonçalves Dias · Tesoro de la Lengua Guaraní (Montoya, 1639) · Wikibooks Guarani · Glosbe.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Transpilador Tupi-Guarani → Python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C5F2D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301841"/>
            <a:ext cx="10972800" cy="870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3200" dirty="0">
                <a:solidFill>
                  <a:schemeClr val="bg1"/>
                </a:solidFill>
                <a:latin typeface="Georgia" panose="02040502050405020303" pitchFamily="18" charset="0"/>
              </a:rPr>
              <a:t>Referências Bibliográficas</a:t>
            </a:r>
            <a:endParaRPr lang="en-US" sz="32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443953"/>
            <a:ext cx="11064240" cy="4518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DIAS, Antônio Gonçalves</a:t>
            </a: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Dicionário da </a:t>
            </a:r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Lingua</a:t>
            </a: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Tupy: chamada língua geral dos indígenas do </a:t>
            </a:r>
            <a:r>
              <a:rPr lang="pt-BR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Brazil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5. ed. rev. e aum. 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Lipsia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F. A. 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Brockhaus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1858. 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Disponivel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em: </a:t>
            </a:r>
            <a:r>
              <a:rPr lang="pt-BR" sz="1600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https://etnolinguistica.wdfiles.com/local--files/biblio:bueno-1987-dicionario/Bueno_1987_DicTupiGuaraniPortugues_pt2_dicGDias%2BToponimos.</a:t>
            </a:r>
            <a:r>
              <a:rPr lang="pt-BR" sz="16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</a:t>
            </a:r>
            <a:r>
              <a:rPr lang="pt-BR" sz="1600" dirty="0">
                <a:solidFill>
                  <a:schemeClr val="bg1"/>
                </a:solidFill>
              </a:rPr>
              <a:t>. Acesso em: 15 jun. 2026.</a:t>
            </a:r>
          </a:p>
          <a:p>
            <a:pPr algn="just"/>
            <a:endParaRPr lang="pt-BR" sz="1600" dirty="0">
              <a:solidFill>
                <a:schemeClr val="bg1"/>
              </a:solidFill>
            </a:endParaRPr>
          </a:p>
          <a:p>
            <a:pPr algn="just"/>
            <a:r>
              <a:rPr lang="pt-BR" sz="1600" b="1" dirty="0">
                <a:solidFill>
                  <a:schemeClr val="bg1"/>
                </a:solidFill>
              </a:rPr>
              <a:t>GUARANÍ</a:t>
            </a:r>
            <a:r>
              <a:rPr lang="pt-BR" sz="1600" dirty="0">
                <a:solidFill>
                  <a:schemeClr val="bg1"/>
                </a:solidFill>
              </a:rPr>
              <a:t>. In: WIKIBOOKS: </a:t>
            </a:r>
            <a:r>
              <a:rPr lang="pt-BR" sz="1600" dirty="0" err="1">
                <a:solidFill>
                  <a:schemeClr val="bg1"/>
                </a:solidFill>
              </a:rPr>
              <a:t>libros</a:t>
            </a:r>
            <a:r>
              <a:rPr lang="pt-BR" sz="1600" dirty="0">
                <a:solidFill>
                  <a:schemeClr val="bg1"/>
                </a:solidFill>
              </a:rPr>
              <a:t> libres para um mundo libre. [S. l.]: Wikimedia Foundation, 2025. Disponível em: </a:t>
            </a:r>
            <a:r>
              <a:rPr lang="pt-BR" sz="16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https://es.wikibooks.org/wiki/Guaran%C3%AD</a:t>
            </a:r>
            <a:r>
              <a:rPr lang="pt-BR" sz="1600" dirty="0">
                <a:solidFill>
                  <a:schemeClr val="bg1"/>
                </a:solidFill>
              </a:rPr>
              <a:t>. Acesso em: 15 jun. 2026.</a:t>
            </a:r>
          </a:p>
          <a:p>
            <a:pPr algn="just"/>
            <a:endParaRPr lang="pt-BR" sz="1600" dirty="0">
              <a:solidFill>
                <a:schemeClr val="bg1"/>
              </a:solidFill>
            </a:endParaRPr>
          </a:p>
          <a:p>
            <a:pPr algn="just"/>
            <a:r>
              <a:rPr lang="pt-BR" sz="1600" dirty="0">
                <a:solidFill>
                  <a:schemeClr val="bg1"/>
                </a:solidFill>
              </a:rPr>
              <a:t>KUHL, Wolfgang (comp.). </a:t>
            </a:r>
            <a:r>
              <a:rPr lang="pt-BR" sz="1600" b="1" dirty="0">
                <a:solidFill>
                  <a:schemeClr val="bg1"/>
                </a:solidFill>
              </a:rPr>
              <a:t>Numbers in </a:t>
            </a:r>
            <a:r>
              <a:rPr lang="pt-BR" sz="1600" b="1" dirty="0" err="1">
                <a:solidFill>
                  <a:schemeClr val="bg1"/>
                </a:solidFill>
              </a:rPr>
              <a:t>Guaraní</a:t>
            </a:r>
            <a:r>
              <a:rPr lang="pt-BR" sz="1600" b="1" dirty="0">
                <a:solidFill>
                  <a:schemeClr val="bg1"/>
                </a:solidFill>
              </a:rPr>
              <a:t> (</a:t>
            </a:r>
            <a:r>
              <a:rPr lang="pt-BR" sz="1600" b="1" dirty="0" err="1">
                <a:solidFill>
                  <a:schemeClr val="bg1"/>
                </a:solidFill>
              </a:rPr>
              <a:t>Papapy</a:t>
            </a:r>
            <a:r>
              <a:rPr lang="pt-BR" sz="1600" b="1" dirty="0">
                <a:solidFill>
                  <a:schemeClr val="bg1"/>
                </a:solidFill>
              </a:rPr>
              <a:t> </a:t>
            </a:r>
            <a:r>
              <a:rPr lang="pt-BR" sz="1600" b="1" dirty="0" err="1">
                <a:solidFill>
                  <a:schemeClr val="bg1"/>
                </a:solidFill>
              </a:rPr>
              <a:t>Avañe’ême</a:t>
            </a:r>
            <a:r>
              <a:rPr lang="pt-BR" sz="1600" b="1" dirty="0">
                <a:solidFill>
                  <a:schemeClr val="bg1"/>
                </a:solidFill>
              </a:rPr>
              <a:t>)</a:t>
            </a:r>
            <a:r>
              <a:rPr lang="pt-BR" sz="1600" dirty="0">
                <a:solidFill>
                  <a:schemeClr val="bg1"/>
                </a:solidFill>
              </a:rPr>
              <a:t>. In: OMNIGLOT: </a:t>
            </a:r>
            <a:r>
              <a:rPr lang="pt-BR" sz="1600" dirty="0" err="1">
                <a:solidFill>
                  <a:schemeClr val="bg1"/>
                </a:solidFill>
              </a:rPr>
              <a:t>the</a:t>
            </a:r>
            <a:r>
              <a:rPr lang="pt-BR" sz="1600" dirty="0">
                <a:solidFill>
                  <a:schemeClr val="bg1"/>
                </a:solidFill>
              </a:rPr>
              <a:t> online </a:t>
            </a:r>
            <a:r>
              <a:rPr lang="pt-BR" sz="1600" dirty="0" err="1">
                <a:solidFill>
                  <a:schemeClr val="bg1"/>
                </a:solidFill>
              </a:rPr>
              <a:t>encyclopedia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of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writing</a:t>
            </a:r>
            <a:r>
              <a:rPr lang="pt-BR" sz="1600" dirty="0">
                <a:solidFill>
                  <a:schemeClr val="bg1"/>
                </a:solidFill>
              </a:rPr>
              <a:t> systems &amp; </a:t>
            </a:r>
            <a:r>
              <a:rPr lang="pt-BR" sz="1600" dirty="0" err="1">
                <a:solidFill>
                  <a:schemeClr val="bg1"/>
                </a:solidFill>
              </a:rPr>
              <a:t>languages</a:t>
            </a:r>
            <a:r>
              <a:rPr lang="pt-BR" sz="1600" dirty="0">
                <a:solidFill>
                  <a:schemeClr val="bg1"/>
                </a:solidFill>
              </a:rPr>
              <a:t>. Disponível em: </a:t>
            </a:r>
            <a:r>
              <a:rPr lang="pt-BR" sz="1600" u="sng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https://www.omniglot.com/</a:t>
            </a:r>
            <a:r>
              <a:rPr lang="pt-BR" sz="1600" u="sng" dirty="0" err="1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language</a:t>
            </a:r>
            <a:r>
              <a:rPr lang="pt-BR" sz="1600" u="sng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600" u="sng" dirty="0" err="1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numbers</a:t>
            </a:r>
            <a:r>
              <a:rPr lang="pt-BR" sz="1600" u="sng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/guarani.htm</a:t>
            </a:r>
            <a:r>
              <a:rPr lang="pt-BR" sz="1600" dirty="0">
                <a:solidFill>
                  <a:schemeClr val="bg1"/>
                </a:solidFill>
              </a:rPr>
              <a:t>. Acesso em: 15 jun. 2026.</a:t>
            </a:r>
          </a:p>
          <a:p>
            <a:pPr algn="just"/>
            <a:endParaRPr lang="pt-BR" sz="1600" dirty="0">
              <a:solidFill>
                <a:schemeClr val="bg1"/>
              </a:solidFill>
            </a:endParaRPr>
          </a:p>
          <a:p>
            <a:pPr algn="just"/>
            <a:r>
              <a:rPr lang="pt-BR" sz="1600" dirty="0">
                <a:solidFill>
                  <a:schemeClr val="bg1"/>
                </a:solidFill>
              </a:rPr>
              <a:t>RIVAS, Augusto Rojas. </a:t>
            </a:r>
            <a:r>
              <a:rPr lang="pt-BR" sz="1600" b="1" dirty="0" err="1">
                <a:solidFill>
                  <a:schemeClr val="bg1"/>
                </a:solidFill>
              </a:rPr>
              <a:t>Jepe</a:t>
            </a:r>
            <a:r>
              <a:rPr lang="pt-BR" sz="1600" b="1" dirty="0">
                <a:solidFill>
                  <a:schemeClr val="bg1"/>
                </a:solidFill>
              </a:rPr>
              <a:t> 1</a:t>
            </a:r>
            <a:r>
              <a:rPr lang="pt-BR" sz="1600" dirty="0">
                <a:solidFill>
                  <a:schemeClr val="bg1"/>
                </a:solidFill>
              </a:rPr>
              <a:t>. In: TESORO de </a:t>
            </a:r>
            <a:r>
              <a:rPr lang="pt-BR" sz="1600" dirty="0" err="1">
                <a:solidFill>
                  <a:schemeClr val="bg1"/>
                </a:solidFill>
              </a:rPr>
              <a:t>la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Lengua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Guaraní</a:t>
            </a:r>
            <a:r>
              <a:rPr lang="pt-BR" sz="1600" dirty="0">
                <a:solidFill>
                  <a:schemeClr val="bg1"/>
                </a:solidFill>
              </a:rPr>
              <a:t>, </a:t>
            </a:r>
            <a:r>
              <a:rPr lang="pt-BR" sz="1600" dirty="0" err="1">
                <a:solidFill>
                  <a:schemeClr val="bg1"/>
                </a:solidFill>
              </a:rPr>
              <a:t>Antonio</a:t>
            </a:r>
            <a:r>
              <a:rPr lang="pt-BR" sz="1600" dirty="0">
                <a:solidFill>
                  <a:schemeClr val="bg1"/>
                </a:solidFill>
              </a:rPr>
              <a:t> Ruiz de Montoya. Madrid 1.639. [S. l.], 2 dez. 2011. Disponível em: </a:t>
            </a:r>
            <a:r>
              <a:rPr lang="pt-BR" sz="1600" u="sng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https://guaranime.blogspot.com/2011/12/jepe-1.html</a:t>
            </a:r>
            <a:r>
              <a:rPr lang="pt-BR" sz="1600" dirty="0">
                <a:solidFill>
                  <a:schemeClr val="bg1"/>
                </a:solidFill>
              </a:rPr>
              <a:t>. Acesso em: 15 jun. 2026.</a:t>
            </a:r>
          </a:p>
          <a:p>
            <a:pPr algn="just"/>
            <a:endParaRPr lang="pt-BR" sz="1600" dirty="0">
              <a:solidFill>
                <a:schemeClr val="bg1"/>
              </a:solidFill>
            </a:endParaRPr>
          </a:p>
          <a:p>
            <a:pPr algn="just"/>
            <a:r>
              <a:rPr lang="pt-BR" sz="1600" dirty="0">
                <a:solidFill>
                  <a:schemeClr val="bg1"/>
                </a:solidFill>
              </a:rPr>
              <a:t>TIO BABÁ. </a:t>
            </a:r>
            <a:r>
              <a:rPr lang="pt-BR" sz="1600" b="1" dirty="0">
                <a:solidFill>
                  <a:schemeClr val="bg1"/>
                </a:solidFill>
              </a:rPr>
              <a:t>Dicionário Tupi-Português</a:t>
            </a:r>
            <a:r>
              <a:rPr lang="pt-BR" sz="1600" dirty="0">
                <a:solidFill>
                  <a:schemeClr val="bg1"/>
                </a:solidFill>
              </a:rPr>
              <a:t>. Recanto das Letras, 19 set. 2016. Disponível em: https://www.recantodasletras.com.br/juvenil/5765966. Acesso em: 15 jun. 2026.</a:t>
            </a:r>
          </a:p>
          <a:p>
            <a:pPr algn="just"/>
            <a:endParaRPr lang="pt-BR" sz="1600" dirty="0">
              <a:solidFill>
                <a:schemeClr val="bg1"/>
              </a:solidFill>
            </a:endParaRPr>
          </a:p>
          <a:p>
            <a:pPr algn="just"/>
            <a:r>
              <a:rPr lang="pt-BR" sz="1600" dirty="0">
                <a:solidFill>
                  <a:schemeClr val="bg1"/>
                </a:solidFill>
              </a:rPr>
              <a:t>WIKIBOOKS. </a:t>
            </a:r>
            <a:r>
              <a:rPr lang="pt-BR" sz="1600" b="1" dirty="0">
                <a:solidFill>
                  <a:schemeClr val="bg1"/>
                </a:solidFill>
              </a:rPr>
              <a:t>Guarani/</a:t>
            </a:r>
            <a:r>
              <a:rPr lang="pt-BR" sz="1600" b="1" dirty="0" err="1">
                <a:solidFill>
                  <a:schemeClr val="bg1"/>
                </a:solidFill>
              </a:rPr>
              <a:t>Orthography</a:t>
            </a:r>
            <a:r>
              <a:rPr lang="pt-BR" sz="1600" b="1" dirty="0">
                <a:solidFill>
                  <a:schemeClr val="bg1"/>
                </a:solidFill>
              </a:rPr>
              <a:t> </a:t>
            </a:r>
            <a:r>
              <a:rPr lang="pt-BR" sz="1600" b="1" dirty="0" err="1">
                <a:solidFill>
                  <a:schemeClr val="bg1"/>
                </a:solidFill>
              </a:rPr>
              <a:t>and</a:t>
            </a:r>
            <a:r>
              <a:rPr lang="pt-BR" sz="1600" b="1" dirty="0">
                <a:solidFill>
                  <a:schemeClr val="bg1"/>
                </a:solidFill>
              </a:rPr>
              <a:t> </a:t>
            </a:r>
            <a:r>
              <a:rPr lang="pt-BR" sz="1600" b="1" dirty="0" err="1">
                <a:solidFill>
                  <a:schemeClr val="bg1"/>
                </a:solidFill>
              </a:rPr>
              <a:t>pronunciation</a:t>
            </a:r>
            <a:r>
              <a:rPr lang="pt-BR" sz="1600" dirty="0">
                <a:solidFill>
                  <a:schemeClr val="bg1"/>
                </a:solidFill>
              </a:rPr>
              <a:t>. </a:t>
            </a:r>
            <a:r>
              <a:rPr lang="pt-BR" sz="1600" dirty="0" err="1">
                <a:solidFill>
                  <a:schemeClr val="bg1"/>
                </a:solidFill>
              </a:rPr>
              <a:t>Wikibooks</a:t>
            </a:r>
            <a:r>
              <a:rPr lang="pt-BR" sz="1600" dirty="0">
                <a:solidFill>
                  <a:schemeClr val="bg1"/>
                </a:solidFill>
              </a:rPr>
              <a:t>, 2025. Disponível em: </a:t>
            </a:r>
            <a:r>
              <a:rPr lang="pt-BR" sz="1600" u="sng" dirty="0">
                <a:solidFill>
                  <a:srgbClr val="0563C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https://en.wikibooks.org/wiki/Guarani/</a:t>
            </a:r>
            <a:r>
              <a:rPr lang="pt-BR" sz="1600" u="sng" dirty="0" err="1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Orthography_and_pronunciation</a:t>
            </a:r>
            <a:r>
              <a:rPr lang="pt-BR" sz="1600" dirty="0">
                <a:solidFill>
                  <a:schemeClr val="bg1"/>
                </a:solidFill>
              </a:rPr>
              <a:t>. Acesso em: 15 jun. 2026.</a:t>
            </a:r>
            <a:endParaRPr lang="pt-BR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0" y="2834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2057</Words>
  <Application>Microsoft Office PowerPoint</Application>
  <PresentationFormat>Widescreen</PresentationFormat>
  <Paragraphs>368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Transpilador Tupi-Guarani para Python 3</dc:title>
  <dc:subject>PptxGenJS Presentation</dc:subject>
  <dc:creator>Equipe Tupi Guarani</dc:creator>
  <cp:lastModifiedBy>Bruno de Menezes Sales</cp:lastModifiedBy>
  <cp:revision>4</cp:revision>
  <dcterms:created xsi:type="dcterms:W3CDTF">2026-06-10T17:20:59Z</dcterms:created>
  <dcterms:modified xsi:type="dcterms:W3CDTF">2026-06-15T04:29:50Z</dcterms:modified>
</cp:coreProperties>
</file>